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League Spartan"/>
      <p:regular r:id="rId15"/>
      <p:bold r:id="rId16"/>
    </p:embeddedFont>
    <p:embeddedFont>
      <p:font typeface="Plus Jakarta Sans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lus Jakarta Sans Medium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usJakartaSansMedium-bold.fntdata"/><Relationship Id="rId25" Type="http://schemas.openxmlformats.org/officeDocument/2006/relationships/font" Target="fonts/PlusJakartaSansMedium-regular.fntdata"/><Relationship Id="rId28" Type="http://schemas.openxmlformats.org/officeDocument/2006/relationships/font" Target="fonts/PlusJakartaSansMedium-boldItalic.fntdata"/><Relationship Id="rId27" Type="http://schemas.openxmlformats.org/officeDocument/2006/relationships/font" Target="fonts/PlusJakartaSans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font" Target="fonts/LeagueSpartan-regular.fnt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font" Target="fonts/PlusJakartaSans-regular.fntdata"/><Relationship Id="rId16" Type="http://schemas.openxmlformats.org/officeDocument/2006/relationships/font" Target="fonts/LeagueSpartan-bold.fntdata"/><Relationship Id="rId19" Type="http://schemas.openxmlformats.org/officeDocument/2006/relationships/font" Target="fonts/PlusJakartaSans-italic.fntdata"/><Relationship Id="rId1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1124026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1124026be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161327a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161327a94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1124026b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1124026be_0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1124026b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e1124026be_0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1124026be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e1124026be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1124026b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e1124026be_0_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1124026b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e1124026be_0_1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1124026be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e1124026be_0_1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14" name="Google Shape;14;p2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17" name="Google Shape;17;p2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0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1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2" name="Google Shape;82;p13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3" name="Google Shape;83;p13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6" name="Google Shape;86;p13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2" name="Google Shape;92;p13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5" name="Google Shape;95;p13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9" name="Google Shape;99;p14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0" name="Google Shape;100;p14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2" name="Google Shape;102;p14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5" name="Google Shape;105;p14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6" name="Google Shape;106;p14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8" name="Google Shape;108;p14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9" name="Google Shape;109;p14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1" name="Google Shape;111;p14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2" name="Google Shape;112;p14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4" name="Google Shape;114;p14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5" name="Google Shape;115;p14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7" name="Google Shape;117;p14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8" name="Google Shape;118;p14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20" name="Google Shape;120;p14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3" name="Google Shape;123;p15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16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6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6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6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6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16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49" name="Google Shape;149;p20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51" name="Google Shape;151;p20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4" name="Google Shape;154;p21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1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6" name="Google Shape;156;p21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7" name="Google Shape;157;p21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8" name="Google Shape;158;p21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9" name="Google Shape;159;p21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0" name="Google Shape;160;p21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166" name="Google Shape;166;p22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167" name="Google Shape;167;p22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23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" name="Google Shape;179;p24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4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2" name="Google Shape;182;p24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3" name="Google Shape;183;p24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4" name="Google Shape;184;p24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5" name="Google Shape;185;p24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24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4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25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9" name="Google Shape;199;p25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9" name="Google Shape;229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6" name="Google Shape;236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2" name="Google Shape;242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6" name="Google Shape;246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7" name="Google Shape;247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3" name="Google Shape;253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4" name="Google Shape;254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7" name="Google Shape;257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6" name="Google Shape;26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9" name="Google Shape;26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" name="Google Shape;27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7" name="Google Shape;27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2" name="Google Shape;28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298" name="Google Shape;298;p4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299" name="Google Shape;299;p4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8" name="Google Shape;308;p4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9" name="Google Shape;309;p4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2" name="Google Shape;312;p48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4" name="Google Shape;314;p4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5" name="Google Shape;315;p4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8" name="Google Shape;318;p49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19" name="Google Shape;319;p4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0" name="Google Shape;320;p4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1" name="Google Shape;321;p4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5" name="Google Shape;325;p5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6" name="Google Shape;326;p5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7" name="Google Shape;327;p5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31" name="Google Shape;331;p51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32" name="Google Shape;332;p5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3" name="Google Shape;333;p5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4" name="Google Shape;334;p5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37" name="Google Shape;337;p52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338" name="Google Shape;338;p52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339" name="Google Shape;339;p52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340" name="Google Shape;340;p52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341" name="Google Shape;341;p5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2" name="Google Shape;342;p5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3" name="Google Shape;343;p5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6" name="Google Shape;346;p5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7" name="Google Shape;347;p5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8" name="Google Shape;348;p5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1" name="Google Shape;351;p54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352" name="Google Shape;352;p54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353" name="Google Shape;353;p5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4" name="Google Shape;354;p5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5" name="Google Shape;355;p5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8" name="Google Shape;358;p55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55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360" name="Google Shape;360;p5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1" name="Google Shape;361;p5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2" name="Google Shape;362;p5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5" name="Google Shape;365;p56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66" name="Google Shape;366;p5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7" name="Google Shape;367;p5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8" name="Google Shape;368;p5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1" name="Google Shape;371;p57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72" name="Google Shape;372;p5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3" name="Google Shape;373;p5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4" name="Google Shape;374;p5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302" name="Google Shape;302;p4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4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4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3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58"/>
          <p:cNvGrpSpPr/>
          <p:nvPr/>
        </p:nvGrpSpPr>
        <p:grpSpPr>
          <a:xfrm rot="-5400000">
            <a:off x="4817610" y="2556600"/>
            <a:ext cx="1996049" cy="1961724"/>
            <a:chOff x="0" y="0"/>
            <a:chExt cx="558800" cy="549191"/>
          </a:xfrm>
        </p:grpSpPr>
        <p:sp>
          <p:nvSpPr>
            <p:cNvPr id="380" name="Google Shape;380;p58"/>
            <p:cNvSpPr/>
            <p:nvPr/>
          </p:nvSpPr>
          <p:spPr>
            <a:xfrm>
              <a:off x="0" y="0"/>
              <a:ext cx="558800" cy="549191"/>
            </a:xfrm>
            <a:custGeom>
              <a:rect b="b" l="l" r="r" t="t"/>
              <a:pathLst>
                <a:path extrusionOk="0" h="549191" w="558800">
                  <a:moveTo>
                    <a:pt x="0" y="549191"/>
                  </a:moveTo>
                  <a:cubicBezTo>
                    <a:pt x="0" y="404555"/>
                    <a:pt x="59606" y="263127"/>
                    <a:pt x="163669" y="160854"/>
                  </a:cubicBezTo>
                  <a:cubicBezTo>
                    <a:pt x="267731" y="58581"/>
                    <a:pt x="411634" y="0"/>
                    <a:pt x="558800" y="0"/>
                  </a:cubicBezTo>
                  <a:lnTo>
                    <a:pt x="558800" y="549191"/>
                  </a:lnTo>
                  <a:lnTo>
                    <a:pt x="0" y="549191"/>
                  </a:ln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58"/>
            <p:cNvSpPr txBox="1"/>
            <p:nvPr/>
          </p:nvSpPr>
          <p:spPr>
            <a:xfrm>
              <a:off x="165100" y="124161"/>
              <a:ext cx="393700" cy="425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58"/>
          <p:cNvGrpSpPr/>
          <p:nvPr/>
        </p:nvGrpSpPr>
        <p:grpSpPr>
          <a:xfrm rot="5400000">
            <a:off x="6727848" y="671322"/>
            <a:ext cx="1996049" cy="1996049"/>
            <a:chOff x="0" y="0"/>
            <a:chExt cx="558800" cy="558800"/>
          </a:xfrm>
        </p:grpSpPr>
        <p:sp>
          <p:nvSpPr>
            <p:cNvPr id="383" name="Google Shape;383;p58"/>
            <p:cNvSpPr/>
            <p:nvPr/>
          </p:nvSpPr>
          <p:spPr>
            <a:xfrm>
              <a:off x="0" y="0"/>
              <a:ext cx="558800" cy="558800"/>
            </a:xfrm>
            <a:custGeom>
              <a:rect b="b" l="l" r="r" t="t"/>
              <a:pathLst>
                <a:path extrusionOk="0"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8"/>
            <p:cNvSpPr txBox="1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58"/>
          <p:cNvSpPr/>
          <p:nvPr/>
        </p:nvSpPr>
        <p:spPr>
          <a:xfrm>
            <a:off x="4668435" y="514350"/>
            <a:ext cx="2093738" cy="2093738"/>
          </a:xfrm>
          <a:custGeom>
            <a:rect b="b" l="l" r="r" t="t"/>
            <a:pathLst>
              <a:path extrusionOk="0" h="6350000" w="6350000">
                <a:moveTo>
                  <a:pt x="0" y="6350000"/>
                </a:moveTo>
                <a:lnTo>
                  <a:pt x="6350000" y="6350000"/>
                </a:lnTo>
                <a:lnTo>
                  <a:pt x="6350000" y="0"/>
                </a:lnTo>
                <a:cubicBezTo>
                  <a:pt x="2843530" y="0"/>
                  <a:pt x="0" y="2843530"/>
                  <a:pt x="0" y="635000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31" r="-24931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8"/>
          <p:cNvSpPr/>
          <p:nvPr/>
        </p:nvSpPr>
        <p:spPr>
          <a:xfrm>
            <a:off x="6762172" y="2608088"/>
            <a:ext cx="1961724" cy="1927400"/>
          </a:xfrm>
          <a:custGeom>
            <a:rect b="b" l="l" r="r" t="t"/>
            <a:pathLst>
              <a:path extrusionOk="0" h="6350000" w="6463086">
                <a:moveTo>
                  <a:pt x="0" y="0"/>
                </a:moveTo>
                <a:lnTo>
                  <a:pt x="0" y="6350000"/>
                </a:lnTo>
                <a:cubicBezTo>
                  <a:pt x="3568916" y="6350000"/>
                  <a:pt x="6463086" y="3506470"/>
                  <a:pt x="6463086" y="0"/>
                </a:cubicBez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7241" r="0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" name="Google Shape;387;p58"/>
          <p:cNvGrpSpPr/>
          <p:nvPr/>
        </p:nvGrpSpPr>
        <p:grpSpPr>
          <a:xfrm>
            <a:off x="6445989" y="2291905"/>
            <a:ext cx="632366" cy="632366"/>
            <a:chOff x="0" y="0"/>
            <a:chExt cx="812800" cy="812800"/>
          </a:xfrm>
        </p:grpSpPr>
        <p:sp>
          <p:nvSpPr>
            <p:cNvPr id="388" name="Google Shape;388;p5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58"/>
          <p:cNvSpPr/>
          <p:nvPr/>
        </p:nvSpPr>
        <p:spPr>
          <a:xfrm>
            <a:off x="6580119" y="2426035"/>
            <a:ext cx="364107" cy="364106"/>
          </a:xfrm>
          <a:custGeom>
            <a:rect b="b" l="l" r="r" t="t"/>
            <a:pathLst>
              <a:path extrusionOk="0" h="728213" w="728213">
                <a:moveTo>
                  <a:pt x="0" y="0"/>
                </a:moveTo>
                <a:lnTo>
                  <a:pt x="728213" y="0"/>
                </a:lnTo>
                <a:lnTo>
                  <a:pt x="728213" y="728212"/>
                </a:lnTo>
                <a:lnTo>
                  <a:pt x="0" y="72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58"/>
          <p:cNvSpPr/>
          <p:nvPr/>
        </p:nvSpPr>
        <p:spPr>
          <a:xfrm>
            <a:off x="514350" y="514350"/>
            <a:ext cx="401283" cy="419592"/>
          </a:xfrm>
          <a:custGeom>
            <a:rect b="b" l="l" r="r" t="t"/>
            <a:pathLst>
              <a:path extrusionOk="0" h="839184" w="802565">
                <a:moveTo>
                  <a:pt x="0" y="0"/>
                </a:moveTo>
                <a:lnTo>
                  <a:pt x="802565" y="0"/>
                </a:lnTo>
                <a:lnTo>
                  <a:pt x="802565" y="839184"/>
                </a:lnTo>
                <a:lnTo>
                  <a:pt x="0" y="839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2" name="Google Shape;392;p58"/>
          <p:cNvSpPr/>
          <p:nvPr/>
        </p:nvSpPr>
        <p:spPr>
          <a:xfrm>
            <a:off x="2933070" y="3196614"/>
            <a:ext cx="1554261" cy="1554261"/>
          </a:xfrm>
          <a:custGeom>
            <a:rect b="b" l="l" r="r" t="t"/>
            <a:pathLst>
              <a:path extrusionOk="0" h="3108522" w="3108522">
                <a:moveTo>
                  <a:pt x="0" y="0"/>
                </a:moveTo>
                <a:lnTo>
                  <a:pt x="3108522" y="0"/>
                </a:lnTo>
                <a:lnTo>
                  <a:pt x="3108522" y="3108522"/>
                </a:lnTo>
                <a:lnTo>
                  <a:pt x="0" y="3108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3" name="Google Shape;393;p58"/>
          <p:cNvGrpSpPr/>
          <p:nvPr/>
        </p:nvGrpSpPr>
        <p:grpSpPr>
          <a:xfrm>
            <a:off x="314805" y="1237363"/>
            <a:ext cx="72272" cy="2207308"/>
            <a:chOff x="0" y="-47625"/>
            <a:chExt cx="38069" cy="1162697"/>
          </a:xfrm>
        </p:grpSpPr>
        <p:sp>
          <p:nvSpPr>
            <p:cNvPr id="394" name="Google Shape;394;p58"/>
            <p:cNvSpPr/>
            <p:nvPr/>
          </p:nvSpPr>
          <p:spPr>
            <a:xfrm>
              <a:off x="0" y="0"/>
              <a:ext cx="38069" cy="1115072"/>
            </a:xfrm>
            <a:custGeom>
              <a:rect b="b" l="l" r="r" t="t"/>
              <a:pathLst>
                <a:path extrusionOk="0" h="1115072" w="38069">
                  <a:moveTo>
                    <a:pt x="19034" y="0"/>
                  </a:moveTo>
                  <a:lnTo>
                    <a:pt x="19034" y="0"/>
                  </a:lnTo>
                  <a:cubicBezTo>
                    <a:pt x="29547" y="0"/>
                    <a:pt x="38069" y="8522"/>
                    <a:pt x="38069" y="19034"/>
                  </a:cubicBezTo>
                  <a:lnTo>
                    <a:pt x="38069" y="1096038"/>
                  </a:lnTo>
                  <a:cubicBezTo>
                    <a:pt x="38069" y="1101086"/>
                    <a:pt x="36064" y="1105927"/>
                    <a:pt x="32494" y="1109497"/>
                  </a:cubicBezTo>
                  <a:cubicBezTo>
                    <a:pt x="28924" y="1113067"/>
                    <a:pt x="24083" y="1115072"/>
                    <a:pt x="19034" y="1115072"/>
                  </a:cubicBezTo>
                  <a:lnTo>
                    <a:pt x="19034" y="1115072"/>
                  </a:lnTo>
                  <a:cubicBezTo>
                    <a:pt x="8522" y="1115072"/>
                    <a:pt x="0" y="1106550"/>
                    <a:pt x="0" y="1096038"/>
                  </a:cubicBezTo>
                  <a:lnTo>
                    <a:pt x="0" y="19034"/>
                  </a:lnTo>
                  <a:cubicBezTo>
                    <a:pt x="0" y="13986"/>
                    <a:pt x="2005" y="9145"/>
                    <a:pt x="5575" y="5575"/>
                  </a:cubicBezTo>
                  <a:cubicBezTo>
                    <a:pt x="9145" y="2005"/>
                    <a:pt x="13986" y="0"/>
                    <a:pt x="19034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8"/>
            <p:cNvSpPr txBox="1"/>
            <p:nvPr/>
          </p:nvSpPr>
          <p:spPr>
            <a:xfrm>
              <a:off x="0" y="-47625"/>
              <a:ext cx="38069" cy="1162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58"/>
          <p:cNvSpPr txBox="1"/>
          <p:nvPr/>
        </p:nvSpPr>
        <p:spPr>
          <a:xfrm>
            <a:off x="514350" y="1091584"/>
            <a:ext cx="338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</a:t>
            </a:r>
            <a:endParaRPr sz="700"/>
          </a:p>
        </p:txBody>
      </p:sp>
      <p:sp>
        <p:nvSpPr>
          <p:cNvPr id="397" name="Google Shape;397;p58"/>
          <p:cNvSpPr txBox="1"/>
          <p:nvPr/>
        </p:nvSpPr>
        <p:spPr>
          <a:xfrm>
            <a:off x="514350" y="1729538"/>
            <a:ext cx="360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</a:t>
            </a:r>
            <a:endParaRPr sz="700"/>
          </a:p>
        </p:txBody>
      </p:sp>
      <p:sp>
        <p:nvSpPr>
          <p:cNvPr id="398" name="Google Shape;398;p58"/>
          <p:cNvSpPr txBox="1"/>
          <p:nvPr/>
        </p:nvSpPr>
        <p:spPr>
          <a:xfrm>
            <a:off x="1034702" y="606671"/>
            <a:ext cx="176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Source: Kaggle</a:t>
            </a:r>
            <a:endParaRPr sz="700"/>
          </a:p>
        </p:txBody>
      </p:sp>
      <p:sp>
        <p:nvSpPr>
          <p:cNvPr id="399" name="Google Shape;399;p58"/>
          <p:cNvSpPr txBox="1"/>
          <p:nvPr/>
        </p:nvSpPr>
        <p:spPr>
          <a:xfrm>
            <a:off x="514350" y="4211638"/>
            <a:ext cx="126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Group 8</a:t>
            </a:r>
            <a:endParaRPr sz="700"/>
          </a:p>
        </p:txBody>
      </p:sp>
      <p:sp>
        <p:nvSpPr>
          <p:cNvPr id="400" name="Google Shape;400;p58"/>
          <p:cNvSpPr txBox="1"/>
          <p:nvPr/>
        </p:nvSpPr>
        <p:spPr>
          <a:xfrm>
            <a:off x="514350" y="4418013"/>
            <a:ext cx="1689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Argel Perez 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Stefani Wilson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58"/>
          <p:cNvSpPr txBox="1"/>
          <p:nvPr/>
        </p:nvSpPr>
        <p:spPr>
          <a:xfrm>
            <a:off x="387075" y="2288738"/>
            <a:ext cx="4649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59"/>
          <p:cNvGrpSpPr/>
          <p:nvPr/>
        </p:nvGrpSpPr>
        <p:grpSpPr>
          <a:xfrm>
            <a:off x="492825" y="-1"/>
            <a:ext cx="84749" cy="919510"/>
            <a:chOff x="0" y="-47625"/>
            <a:chExt cx="33392" cy="894900"/>
          </a:xfrm>
        </p:grpSpPr>
        <p:sp>
          <p:nvSpPr>
            <p:cNvPr id="407" name="Google Shape;407;p59"/>
            <p:cNvSpPr/>
            <p:nvPr/>
          </p:nvSpPr>
          <p:spPr>
            <a:xfrm>
              <a:off x="0" y="0"/>
              <a:ext cx="33392" cy="847163"/>
            </a:xfrm>
            <a:custGeom>
              <a:rect b="b" l="l" r="r" t="t"/>
              <a:pathLst>
                <a:path extrusionOk="0" h="847163" w="33392">
                  <a:moveTo>
                    <a:pt x="16696" y="0"/>
                  </a:moveTo>
                  <a:lnTo>
                    <a:pt x="16696" y="0"/>
                  </a:lnTo>
                  <a:cubicBezTo>
                    <a:pt x="25917" y="0"/>
                    <a:pt x="33392" y="7475"/>
                    <a:pt x="33392" y="16696"/>
                  </a:cubicBezTo>
                  <a:lnTo>
                    <a:pt x="33392" y="830467"/>
                  </a:lnTo>
                  <a:cubicBezTo>
                    <a:pt x="33392" y="839688"/>
                    <a:pt x="25917" y="847163"/>
                    <a:pt x="16696" y="847163"/>
                  </a:cubicBezTo>
                  <a:lnTo>
                    <a:pt x="16696" y="847163"/>
                  </a:lnTo>
                  <a:cubicBezTo>
                    <a:pt x="12268" y="847163"/>
                    <a:pt x="8021" y="845404"/>
                    <a:pt x="4890" y="842272"/>
                  </a:cubicBezTo>
                  <a:cubicBezTo>
                    <a:pt x="1759" y="839141"/>
                    <a:pt x="0" y="834895"/>
                    <a:pt x="0" y="830467"/>
                  </a:cubicBezTo>
                  <a:lnTo>
                    <a:pt x="0" y="16696"/>
                  </a:lnTo>
                  <a:cubicBezTo>
                    <a:pt x="0" y="12268"/>
                    <a:pt x="1759" y="8021"/>
                    <a:pt x="4890" y="4890"/>
                  </a:cubicBezTo>
                  <a:cubicBezTo>
                    <a:pt x="8021" y="1759"/>
                    <a:pt x="12268" y="0"/>
                    <a:pt x="16696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24750" lIns="24750" spcFirstLastPara="1" rIns="24750" wrap="square" tIns="24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9"/>
            <p:cNvSpPr txBox="1"/>
            <p:nvPr/>
          </p:nvSpPr>
          <p:spPr>
            <a:xfrm>
              <a:off x="0" y="-47625"/>
              <a:ext cx="33300" cy="89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50" lIns="13750" spcFirstLastPara="1" rIns="13750" wrap="square" tIns="1375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59"/>
          <p:cNvGrpSpPr/>
          <p:nvPr/>
        </p:nvGrpSpPr>
        <p:grpSpPr>
          <a:xfrm>
            <a:off x="669503" y="1169240"/>
            <a:ext cx="520355" cy="520355"/>
            <a:chOff x="0" y="0"/>
            <a:chExt cx="812800" cy="812800"/>
          </a:xfrm>
        </p:grpSpPr>
        <p:sp>
          <p:nvSpPr>
            <p:cNvPr id="410" name="Google Shape;410;p5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59"/>
          <p:cNvGrpSpPr/>
          <p:nvPr/>
        </p:nvGrpSpPr>
        <p:grpSpPr>
          <a:xfrm>
            <a:off x="4813115" y="1169242"/>
            <a:ext cx="520355" cy="520355"/>
            <a:chOff x="0" y="0"/>
            <a:chExt cx="812800" cy="812800"/>
          </a:xfrm>
        </p:grpSpPr>
        <p:sp>
          <p:nvSpPr>
            <p:cNvPr id="413" name="Google Shape;413;p5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59"/>
          <p:cNvGrpSpPr/>
          <p:nvPr/>
        </p:nvGrpSpPr>
        <p:grpSpPr>
          <a:xfrm>
            <a:off x="4816578" y="2823018"/>
            <a:ext cx="520355" cy="520355"/>
            <a:chOff x="0" y="0"/>
            <a:chExt cx="812800" cy="812800"/>
          </a:xfrm>
        </p:grpSpPr>
        <p:sp>
          <p:nvSpPr>
            <p:cNvPr id="416" name="Google Shape;416;p5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59"/>
          <p:cNvSpPr/>
          <p:nvPr/>
        </p:nvSpPr>
        <p:spPr>
          <a:xfrm>
            <a:off x="798108" y="1297858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80"/>
                </a:lnTo>
                <a:lnTo>
                  <a:pt x="0" y="52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59"/>
          <p:cNvSpPr/>
          <p:nvPr/>
        </p:nvSpPr>
        <p:spPr>
          <a:xfrm>
            <a:off x="4941721" y="1297860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80"/>
                </a:lnTo>
                <a:lnTo>
                  <a:pt x="0" y="52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59"/>
          <p:cNvSpPr/>
          <p:nvPr/>
        </p:nvSpPr>
        <p:spPr>
          <a:xfrm>
            <a:off x="4945183" y="2951625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79"/>
                </a:lnTo>
                <a:lnTo>
                  <a:pt x="0" y="526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59"/>
          <p:cNvSpPr txBox="1"/>
          <p:nvPr/>
        </p:nvSpPr>
        <p:spPr>
          <a:xfrm>
            <a:off x="698719" y="150050"/>
            <a:ext cx="6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Problem</a:t>
            </a:r>
            <a:endParaRPr sz="700"/>
          </a:p>
        </p:txBody>
      </p:sp>
      <p:sp>
        <p:nvSpPr>
          <p:cNvPr id="422" name="Google Shape;422;p59"/>
          <p:cNvSpPr txBox="1"/>
          <p:nvPr/>
        </p:nvSpPr>
        <p:spPr>
          <a:xfrm>
            <a:off x="1433462" y="1169250"/>
            <a:ext cx="31395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The Main Question and Problem</a:t>
            </a:r>
            <a:endParaRPr b="1" sz="1100"/>
          </a:p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Standard stats don’t always show who has the most efficiency on the court.</a:t>
            </a:r>
            <a:endParaRPr sz="1100"/>
          </a:p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How many points does a player contribute for every 10 minutes of play time?</a:t>
            </a:r>
            <a:r>
              <a:rPr lang="en" sz="1100"/>
              <a:t> </a:t>
            </a:r>
            <a:endParaRPr b="1"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59"/>
          <p:cNvSpPr txBox="1"/>
          <p:nvPr/>
        </p:nvSpPr>
        <p:spPr>
          <a:xfrm>
            <a:off x="5573625" y="1169250"/>
            <a:ext cx="2741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Relevance to Business Decision Making</a:t>
            </a:r>
            <a:endParaRPr b="1"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It helps coaches and managers to decide who to invest more playing time in. </a:t>
            </a:r>
            <a:endParaRPr b="1"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p59"/>
          <p:cNvSpPr txBox="1"/>
          <p:nvPr/>
        </p:nvSpPr>
        <p:spPr>
          <a:xfrm>
            <a:off x="5764273" y="2891757"/>
            <a:ext cx="23598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DataSet Summary</a:t>
            </a:r>
            <a:endParaRPr b="1"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Analyzed 1,628 (players) </a:t>
            </a:r>
            <a:endParaRPr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36 Columns(Stat categories)</a:t>
            </a:r>
            <a:endParaRPr sz="1100"/>
          </a:p>
          <a:p>
            <a:pPr indent="-298450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Player</a:t>
            </a:r>
            <a:endParaRPr sz="1100"/>
          </a:p>
          <a:p>
            <a:pPr indent="-298450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Position</a:t>
            </a:r>
            <a:endParaRPr sz="1100"/>
          </a:p>
          <a:p>
            <a:pPr indent="-298450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Team</a:t>
            </a:r>
            <a:endParaRPr sz="1100"/>
          </a:p>
          <a:p>
            <a:pPr indent="-298450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Mpg_minutes_per_game</a:t>
            </a:r>
            <a:endParaRPr sz="1100"/>
          </a:p>
          <a:p>
            <a:pPr indent="-298450" lvl="0" marL="4572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Ppg_points_per_game</a:t>
            </a:r>
            <a:endParaRPr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425" name="Google Shape;42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376" y="3621425"/>
            <a:ext cx="3251700" cy="16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60"/>
          <p:cNvGrpSpPr/>
          <p:nvPr/>
        </p:nvGrpSpPr>
        <p:grpSpPr>
          <a:xfrm>
            <a:off x="2291701" y="1097882"/>
            <a:ext cx="4560605" cy="169147"/>
            <a:chOff x="0" y="-248029"/>
            <a:chExt cx="1490540" cy="89100"/>
          </a:xfrm>
        </p:grpSpPr>
        <p:sp>
          <p:nvSpPr>
            <p:cNvPr id="431" name="Google Shape;431;p60"/>
            <p:cNvSpPr/>
            <p:nvPr/>
          </p:nvSpPr>
          <p:spPr>
            <a:xfrm>
              <a:off x="0" y="-224252"/>
              <a:ext cx="1490540" cy="41533"/>
            </a:xfrm>
            <a:custGeom>
              <a:rect b="b" l="l" r="r" t="t"/>
              <a:pathLst>
                <a:path extrusionOk="0" h="41533" w="1490540">
                  <a:moveTo>
                    <a:pt x="20766" y="0"/>
                  </a:moveTo>
                  <a:lnTo>
                    <a:pt x="1469773" y="0"/>
                  </a:lnTo>
                  <a:cubicBezTo>
                    <a:pt x="1475281" y="0"/>
                    <a:pt x="1480563" y="2188"/>
                    <a:pt x="1484457" y="6082"/>
                  </a:cubicBezTo>
                  <a:cubicBezTo>
                    <a:pt x="1488352" y="9977"/>
                    <a:pt x="1490540" y="15259"/>
                    <a:pt x="1490540" y="20766"/>
                  </a:cubicBezTo>
                  <a:lnTo>
                    <a:pt x="1490540" y="20766"/>
                  </a:lnTo>
                  <a:cubicBezTo>
                    <a:pt x="1490540" y="26274"/>
                    <a:pt x="1488352" y="31556"/>
                    <a:pt x="1484457" y="35450"/>
                  </a:cubicBezTo>
                  <a:cubicBezTo>
                    <a:pt x="1480563" y="39345"/>
                    <a:pt x="1475281" y="41533"/>
                    <a:pt x="1469773" y="41533"/>
                  </a:cubicBezTo>
                  <a:lnTo>
                    <a:pt x="20766" y="41533"/>
                  </a:lnTo>
                  <a:cubicBezTo>
                    <a:pt x="15259" y="41533"/>
                    <a:pt x="9977" y="39345"/>
                    <a:pt x="6082" y="35450"/>
                  </a:cubicBezTo>
                  <a:cubicBezTo>
                    <a:pt x="2188" y="31556"/>
                    <a:pt x="0" y="26274"/>
                    <a:pt x="0" y="20766"/>
                  </a:cubicBezTo>
                  <a:lnTo>
                    <a:pt x="0" y="20766"/>
                  </a:lnTo>
                  <a:cubicBezTo>
                    <a:pt x="0" y="15259"/>
                    <a:pt x="2188" y="9977"/>
                    <a:pt x="6082" y="6082"/>
                  </a:cubicBezTo>
                  <a:cubicBezTo>
                    <a:pt x="9977" y="2188"/>
                    <a:pt x="15259" y="0"/>
                    <a:pt x="20766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0"/>
            <p:cNvSpPr txBox="1"/>
            <p:nvPr/>
          </p:nvSpPr>
          <p:spPr>
            <a:xfrm>
              <a:off x="0" y="-248029"/>
              <a:ext cx="1490400" cy="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60"/>
          <p:cNvSpPr txBox="1"/>
          <p:nvPr/>
        </p:nvSpPr>
        <p:spPr>
          <a:xfrm>
            <a:off x="1258050" y="179050"/>
            <a:ext cx="6627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Cleaning Highlights</a:t>
            </a:r>
            <a:endParaRPr sz="700"/>
          </a:p>
        </p:txBody>
      </p:sp>
      <p:sp>
        <p:nvSpPr>
          <p:cNvPr id="434" name="Google Shape;434;p60"/>
          <p:cNvSpPr txBox="1"/>
          <p:nvPr/>
        </p:nvSpPr>
        <p:spPr>
          <a:xfrm>
            <a:off x="453300" y="1548600"/>
            <a:ext cx="42075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Missing Values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chose to fill missing values with 0 instead of dropping rows because many of the missing values are basketball statistics. If a player was missing a stat from one of the CSV files, we treated it as 0 so we could keep the player in the dataset</a:t>
            </a:r>
            <a:r>
              <a:rPr lang="en" sz="1100"/>
              <a:t> 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Fixing  and Cleaning Data Types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-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Converted ppg and mpg from string to floats to be able to complete the points per 10 minutes calculation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-"/>
            </a:pP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Assigned Team and position as categorical data types to help with better visualization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5" name="Google Shape;43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200" y="1682922"/>
            <a:ext cx="3903025" cy="30976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1"/>
          <p:cNvSpPr/>
          <p:nvPr/>
        </p:nvSpPr>
        <p:spPr>
          <a:xfrm>
            <a:off x="293561" y="1186138"/>
            <a:ext cx="3966530" cy="3443178"/>
          </a:xfrm>
          <a:custGeom>
            <a:rect b="b" l="l" r="r" t="t"/>
            <a:pathLst>
              <a:path extrusionOk="0" h="1066825" w="1228979">
                <a:moveTo>
                  <a:pt x="0" y="0"/>
                </a:moveTo>
                <a:lnTo>
                  <a:pt x="1228979" y="0"/>
                </a:lnTo>
                <a:lnTo>
                  <a:pt x="1228979" y="1066825"/>
                </a:lnTo>
                <a:lnTo>
                  <a:pt x="0" y="10668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5045" r="-15045" t="0"/>
            </a:stretch>
          </a:blipFill>
          <a:ln>
            <a:noFill/>
          </a:ln>
        </p:spPr>
      </p:sp>
      <p:sp>
        <p:nvSpPr>
          <p:cNvPr id="441" name="Google Shape;441;p61"/>
          <p:cNvSpPr txBox="1"/>
          <p:nvPr/>
        </p:nvSpPr>
        <p:spPr>
          <a:xfrm>
            <a:off x="4644700" y="416650"/>
            <a:ext cx="3699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Exploratory </a:t>
            </a:r>
            <a:endParaRPr sz="700"/>
          </a:p>
        </p:txBody>
      </p:sp>
      <p:sp>
        <p:nvSpPr>
          <p:cNvPr id="442" name="Google Shape;442;p61"/>
          <p:cNvSpPr txBox="1"/>
          <p:nvPr/>
        </p:nvSpPr>
        <p:spPr>
          <a:xfrm>
            <a:off x="4321162" y="2227056"/>
            <a:ext cx="43464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reviewed player stats such as points, minutes, team, and position.</a:t>
            </a:r>
            <a:endParaRPr sz="1100"/>
          </a:p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cleaned the data by fixing column names and filling missing values with 0.</a:t>
            </a:r>
            <a:endParaRPr sz="1100"/>
          </a:p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created a new column called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points_per_10_minutes</a:t>
            </a:r>
            <a:r>
              <a:rPr lang="en" sz="1100"/>
              <a:t>.</a:t>
            </a:r>
            <a:endParaRPr sz="1100"/>
          </a:p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Formula: </a:t>
            </a:r>
            <a:r>
              <a:rPr b="1" lang="en" sz="1100"/>
              <a:t>points per game ÷ minutes per game × 10</a:t>
            </a:r>
            <a:endParaRPr b="1" sz="1100"/>
          </a:p>
          <a:p>
            <a:pPr indent="-298450" lvl="0" marL="45720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helps compare players fairly, even if they play different minutes.</a:t>
            </a:r>
            <a:endParaRPr sz="1100"/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p61"/>
          <p:cNvSpPr txBox="1"/>
          <p:nvPr/>
        </p:nvSpPr>
        <p:spPr>
          <a:xfrm>
            <a:off x="4283137" y="4198938"/>
            <a:ext cx="434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444" name="Google Shape;444;p61"/>
          <p:cNvGrpSpPr/>
          <p:nvPr/>
        </p:nvGrpSpPr>
        <p:grpSpPr>
          <a:xfrm>
            <a:off x="4862899" y="1699248"/>
            <a:ext cx="3186862" cy="179904"/>
            <a:chOff x="0" y="-47625"/>
            <a:chExt cx="1328025" cy="94761"/>
          </a:xfrm>
        </p:grpSpPr>
        <p:sp>
          <p:nvSpPr>
            <p:cNvPr id="445" name="Google Shape;445;p61"/>
            <p:cNvSpPr/>
            <p:nvPr/>
          </p:nvSpPr>
          <p:spPr>
            <a:xfrm>
              <a:off x="0" y="0"/>
              <a:ext cx="1328025" cy="47136"/>
            </a:xfrm>
            <a:custGeom>
              <a:rect b="b" l="l" r="r" t="t"/>
              <a:pathLst>
                <a:path extrusionOk="0" h="47136" w="1328025">
                  <a:moveTo>
                    <a:pt x="23568" y="0"/>
                  </a:moveTo>
                  <a:lnTo>
                    <a:pt x="1304457" y="0"/>
                  </a:lnTo>
                  <a:cubicBezTo>
                    <a:pt x="1317473" y="0"/>
                    <a:pt x="1328025" y="10552"/>
                    <a:pt x="1328025" y="23568"/>
                  </a:cubicBezTo>
                  <a:lnTo>
                    <a:pt x="1328025" y="23568"/>
                  </a:lnTo>
                  <a:cubicBezTo>
                    <a:pt x="1328025" y="29819"/>
                    <a:pt x="1325542" y="35814"/>
                    <a:pt x="1321122" y="40234"/>
                  </a:cubicBezTo>
                  <a:cubicBezTo>
                    <a:pt x="1316702" y="44653"/>
                    <a:pt x="1310708" y="47136"/>
                    <a:pt x="1304457" y="47136"/>
                  </a:cubicBezTo>
                  <a:lnTo>
                    <a:pt x="23568" y="47136"/>
                  </a:lnTo>
                  <a:cubicBezTo>
                    <a:pt x="10552" y="47136"/>
                    <a:pt x="0" y="36585"/>
                    <a:pt x="0" y="23568"/>
                  </a:cubicBezTo>
                  <a:lnTo>
                    <a:pt x="0" y="23568"/>
                  </a:lnTo>
                  <a:cubicBezTo>
                    <a:pt x="0" y="10552"/>
                    <a:pt x="10552" y="0"/>
                    <a:pt x="23568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1"/>
            <p:cNvSpPr txBox="1"/>
            <p:nvPr/>
          </p:nvSpPr>
          <p:spPr>
            <a:xfrm>
              <a:off x="0" y="-47625"/>
              <a:ext cx="1328025" cy="94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61"/>
          <p:cNvSpPr txBox="1"/>
          <p:nvPr/>
        </p:nvSpPr>
        <p:spPr>
          <a:xfrm>
            <a:off x="5075275" y="858850"/>
            <a:ext cx="2762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5000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Analysis</a:t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3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/>
        </p:nvSpPr>
        <p:spPr>
          <a:xfrm>
            <a:off x="511163" y="194340"/>
            <a:ext cx="338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Bar Chart</a:t>
            </a:r>
            <a:endParaRPr sz="50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53" name="Google Shape;453;p62"/>
          <p:cNvGrpSpPr/>
          <p:nvPr/>
        </p:nvGrpSpPr>
        <p:grpSpPr>
          <a:xfrm>
            <a:off x="331550" y="194320"/>
            <a:ext cx="63401" cy="769518"/>
            <a:chOff x="0" y="-47625"/>
            <a:chExt cx="33392" cy="894788"/>
          </a:xfrm>
        </p:grpSpPr>
        <p:sp>
          <p:nvSpPr>
            <p:cNvPr id="454" name="Google Shape;454;p62"/>
            <p:cNvSpPr/>
            <p:nvPr/>
          </p:nvSpPr>
          <p:spPr>
            <a:xfrm>
              <a:off x="0" y="0"/>
              <a:ext cx="33392" cy="847163"/>
            </a:xfrm>
            <a:custGeom>
              <a:rect b="b" l="l" r="r" t="t"/>
              <a:pathLst>
                <a:path extrusionOk="0" h="847163" w="33392">
                  <a:moveTo>
                    <a:pt x="16696" y="0"/>
                  </a:moveTo>
                  <a:lnTo>
                    <a:pt x="16696" y="0"/>
                  </a:lnTo>
                  <a:cubicBezTo>
                    <a:pt x="25917" y="0"/>
                    <a:pt x="33392" y="7475"/>
                    <a:pt x="33392" y="16696"/>
                  </a:cubicBezTo>
                  <a:lnTo>
                    <a:pt x="33392" y="830467"/>
                  </a:lnTo>
                  <a:cubicBezTo>
                    <a:pt x="33392" y="839688"/>
                    <a:pt x="25917" y="847163"/>
                    <a:pt x="16696" y="847163"/>
                  </a:cubicBezTo>
                  <a:lnTo>
                    <a:pt x="16696" y="847163"/>
                  </a:lnTo>
                  <a:cubicBezTo>
                    <a:pt x="12268" y="847163"/>
                    <a:pt x="8021" y="845404"/>
                    <a:pt x="4890" y="842272"/>
                  </a:cubicBezTo>
                  <a:cubicBezTo>
                    <a:pt x="1759" y="839141"/>
                    <a:pt x="0" y="834895"/>
                    <a:pt x="0" y="830467"/>
                  </a:cubicBezTo>
                  <a:lnTo>
                    <a:pt x="0" y="16696"/>
                  </a:lnTo>
                  <a:cubicBezTo>
                    <a:pt x="0" y="12268"/>
                    <a:pt x="1759" y="8021"/>
                    <a:pt x="4890" y="4890"/>
                  </a:cubicBezTo>
                  <a:cubicBezTo>
                    <a:pt x="8021" y="1759"/>
                    <a:pt x="12268" y="0"/>
                    <a:pt x="16696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2"/>
            <p:cNvSpPr txBox="1"/>
            <p:nvPr/>
          </p:nvSpPr>
          <p:spPr>
            <a:xfrm>
              <a:off x="0" y="-47625"/>
              <a:ext cx="33392" cy="894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6" name="Google Shape;45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38" y="924600"/>
            <a:ext cx="4665948" cy="281196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2"/>
          <p:cNvSpPr txBox="1"/>
          <p:nvPr/>
        </p:nvSpPr>
        <p:spPr>
          <a:xfrm>
            <a:off x="331550" y="1390600"/>
            <a:ext cx="36069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Top 10 Players by Points per 10 Minutes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comparison of players average points scored in 10 minutes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Top 10 Player average scoring efficiency per 10 minutes is 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between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8 and 8.7 points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helps the coaches and managers see who their strongest scorers are and who to give more playing time. 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62"/>
          <p:cNvSpPr txBox="1"/>
          <p:nvPr/>
        </p:nvSpPr>
        <p:spPr>
          <a:xfrm>
            <a:off x="5816313" y="3810775"/>
            <a:ext cx="15162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(Matplotlib)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/>
        </p:nvSpPr>
        <p:spPr>
          <a:xfrm>
            <a:off x="683500" y="384275"/>
            <a:ext cx="338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Boxplot</a:t>
            </a:r>
            <a:endParaRPr sz="700"/>
          </a:p>
        </p:txBody>
      </p:sp>
      <p:sp>
        <p:nvSpPr>
          <p:cNvPr id="464" name="Google Shape;464;p63"/>
          <p:cNvSpPr txBox="1"/>
          <p:nvPr/>
        </p:nvSpPr>
        <p:spPr>
          <a:xfrm>
            <a:off x="495126" y="1455099"/>
            <a:ext cx="33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Points Per 10 Minutes by Position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Compares scoring efficiency across positions.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Most positions have players scoring between about 2–6 points per 10 minutes.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Some players are outliers, scoring much higher than others.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helps coaches see which positions have the widest range of scoring efficiency.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400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65" name="Google Shape;465;p63"/>
          <p:cNvGrpSpPr/>
          <p:nvPr/>
        </p:nvGrpSpPr>
        <p:grpSpPr>
          <a:xfrm>
            <a:off x="495125" y="294200"/>
            <a:ext cx="101300" cy="859533"/>
            <a:chOff x="-1" y="-47624"/>
            <a:chExt cx="33393" cy="894787"/>
          </a:xfrm>
        </p:grpSpPr>
        <p:sp>
          <p:nvSpPr>
            <p:cNvPr id="466" name="Google Shape;466;p63"/>
            <p:cNvSpPr/>
            <p:nvPr/>
          </p:nvSpPr>
          <p:spPr>
            <a:xfrm>
              <a:off x="0" y="0"/>
              <a:ext cx="33392" cy="847163"/>
            </a:xfrm>
            <a:custGeom>
              <a:rect b="b" l="l" r="r" t="t"/>
              <a:pathLst>
                <a:path extrusionOk="0" h="847163" w="33392">
                  <a:moveTo>
                    <a:pt x="16696" y="0"/>
                  </a:moveTo>
                  <a:lnTo>
                    <a:pt x="16696" y="0"/>
                  </a:lnTo>
                  <a:cubicBezTo>
                    <a:pt x="25917" y="0"/>
                    <a:pt x="33392" y="7475"/>
                    <a:pt x="33392" y="16696"/>
                  </a:cubicBezTo>
                  <a:lnTo>
                    <a:pt x="33392" y="830467"/>
                  </a:lnTo>
                  <a:cubicBezTo>
                    <a:pt x="33392" y="839688"/>
                    <a:pt x="25917" y="847163"/>
                    <a:pt x="16696" y="847163"/>
                  </a:cubicBezTo>
                  <a:lnTo>
                    <a:pt x="16696" y="847163"/>
                  </a:lnTo>
                  <a:cubicBezTo>
                    <a:pt x="12268" y="847163"/>
                    <a:pt x="8021" y="845404"/>
                    <a:pt x="4890" y="842272"/>
                  </a:cubicBezTo>
                  <a:cubicBezTo>
                    <a:pt x="1759" y="839141"/>
                    <a:pt x="0" y="834895"/>
                    <a:pt x="0" y="830467"/>
                  </a:cubicBezTo>
                  <a:lnTo>
                    <a:pt x="0" y="16696"/>
                  </a:lnTo>
                  <a:cubicBezTo>
                    <a:pt x="0" y="12268"/>
                    <a:pt x="1759" y="8021"/>
                    <a:pt x="4890" y="4890"/>
                  </a:cubicBezTo>
                  <a:cubicBezTo>
                    <a:pt x="8021" y="1759"/>
                    <a:pt x="12268" y="0"/>
                    <a:pt x="16696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63"/>
            <p:cNvSpPr txBox="1"/>
            <p:nvPr/>
          </p:nvSpPr>
          <p:spPr>
            <a:xfrm>
              <a:off x="-1" y="-47624"/>
              <a:ext cx="33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8" name="Google Shape;468;p63"/>
          <p:cNvPicPr preferRelativeResize="0"/>
          <p:nvPr/>
        </p:nvPicPr>
        <p:blipFill rotWithShape="1">
          <a:blip r:embed="rId3">
            <a:alphaModFix/>
          </a:blip>
          <a:srcRect b="0" l="2401" r="0" t="0"/>
          <a:stretch/>
        </p:blipFill>
        <p:spPr>
          <a:xfrm>
            <a:off x="4149293" y="1262437"/>
            <a:ext cx="4880126" cy="2784149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3"/>
          <p:cNvSpPr txBox="1"/>
          <p:nvPr/>
        </p:nvSpPr>
        <p:spPr>
          <a:xfrm>
            <a:off x="5201375" y="4149800"/>
            <a:ext cx="2608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(Seaborn)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64"/>
          <p:cNvGrpSpPr/>
          <p:nvPr/>
        </p:nvGrpSpPr>
        <p:grpSpPr>
          <a:xfrm>
            <a:off x="487525" y="11"/>
            <a:ext cx="63391" cy="1698666"/>
            <a:chOff x="0" y="-47625"/>
            <a:chExt cx="33392" cy="894788"/>
          </a:xfrm>
        </p:grpSpPr>
        <p:sp>
          <p:nvSpPr>
            <p:cNvPr id="475" name="Google Shape;475;p64"/>
            <p:cNvSpPr/>
            <p:nvPr/>
          </p:nvSpPr>
          <p:spPr>
            <a:xfrm>
              <a:off x="0" y="0"/>
              <a:ext cx="33392" cy="847163"/>
            </a:xfrm>
            <a:custGeom>
              <a:rect b="b" l="l" r="r" t="t"/>
              <a:pathLst>
                <a:path extrusionOk="0" h="847163" w="33392">
                  <a:moveTo>
                    <a:pt x="16696" y="0"/>
                  </a:moveTo>
                  <a:lnTo>
                    <a:pt x="16696" y="0"/>
                  </a:lnTo>
                  <a:cubicBezTo>
                    <a:pt x="25917" y="0"/>
                    <a:pt x="33392" y="7475"/>
                    <a:pt x="33392" y="16696"/>
                  </a:cubicBezTo>
                  <a:lnTo>
                    <a:pt x="33392" y="830467"/>
                  </a:lnTo>
                  <a:cubicBezTo>
                    <a:pt x="33392" y="839688"/>
                    <a:pt x="25917" y="847163"/>
                    <a:pt x="16696" y="847163"/>
                  </a:cubicBezTo>
                  <a:lnTo>
                    <a:pt x="16696" y="847163"/>
                  </a:lnTo>
                  <a:cubicBezTo>
                    <a:pt x="12268" y="847163"/>
                    <a:pt x="8021" y="845404"/>
                    <a:pt x="4890" y="842272"/>
                  </a:cubicBezTo>
                  <a:cubicBezTo>
                    <a:pt x="1759" y="839141"/>
                    <a:pt x="0" y="834895"/>
                    <a:pt x="0" y="830467"/>
                  </a:cubicBezTo>
                  <a:lnTo>
                    <a:pt x="0" y="16696"/>
                  </a:lnTo>
                  <a:cubicBezTo>
                    <a:pt x="0" y="12268"/>
                    <a:pt x="1759" y="8021"/>
                    <a:pt x="4890" y="4890"/>
                  </a:cubicBezTo>
                  <a:cubicBezTo>
                    <a:pt x="8021" y="1759"/>
                    <a:pt x="12268" y="0"/>
                    <a:pt x="16696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4"/>
            <p:cNvSpPr txBox="1"/>
            <p:nvPr/>
          </p:nvSpPr>
          <p:spPr>
            <a:xfrm>
              <a:off x="0" y="-47625"/>
              <a:ext cx="33392" cy="894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64"/>
          <p:cNvGrpSpPr/>
          <p:nvPr/>
        </p:nvGrpSpPr>
        <p:grpSpPr>
          <a:xfrm>
            <a:off x="4816578" y="1939289"/>
            <a:ext cx="520352" cy="520352"/>
            <a:chOff x="0" y="0"/>
            <a:chExt cx="812800" cy="812800"/>
          </a:xfrm>
        </p:grpSpPr>
        <p:sp>
          <p:nvSpPr>
            <p:cNvPr id="478" name="Google Shape;478;p6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64"/>
          <p:cNvGrpSpPr/>
          <p:nvPr/>
        </p:nvGrpSpPr>
        <p:grpSpPr>
          <a:xfrm>
            <a:off x="4816578" y="2654904"/>
            <a:ext cx="520352" cy="520352"/>
            <a:chOff x="0" y="0"/>
            <a:chExt cx="812800" cy="812800"/>
          </a:xfrm>
        </p:grpSpPr>
        <p:sp>
          <p:nvSpPr>
            <p:cNvPr id="481" name="Google Shape;481;p6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64"/>
          <p:cNvGrpSpPr/>
          <p:nvPr/>
        </p:nvGrpSpPr>
        <p:grpSpPr>
          <a:xfrm>
            <a:off x="4816578" y="3370518"/>
            <a:ext cx="520352" cy="520352"/>
            <a:chOff x="0" y="0"/>
            <a:chExt cx="812800" cy="812800"/>
          </a:xfrm>
        </p:grpSpPr>
        <p:sp>
          <p:nvSpPr>
            <p:cNvPr id="484" name="Google Shape;484;p6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" name="Google Shape;486;p64"/>
          <p:cNvGrpSpPr/>
          <p:nvPr/>
        </p:nvGrpSpPr>
        <p:grpSpPr>
          <a:xfrm>
            <a:off x="4816578" y="4084352"/>
            <a:ext cx="520352" cy="520352"/>
            <a:chOff x="0" y="0"/>
            <a:chExt cx="812800" cy="812800"/>
          </a:xfrm>
        </p:grpSpPr>
        <p:sp>
          <p:nvSpPr>
            <p:cNvPr id="487" name="Google Shape;487;p6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6FE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9" name="Google Shape;489;p64"/>
          <p:cNvSpPr/>
          <p:nvPr/>
        </p:nvSpPr>
        <p:spPr>
          <a:xfrm>
            <a:off x="4945183" y="2067896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80"/>
                </a:lnTo>
                <a:lnTo>
                  <a:pt x="0" y="52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64"/>
          <p:cNvSpPr/>
          <p:nvPr/>
        </p:nvSpPr>
        <p:spPr>
          <a:xfrm>
            <a:off x="4945183" y="2783510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80"/>
                </a:lnTo>
                <a:lnTo>
                  <a:pt x="0" y="52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1" name="Google Shape;491;p64"/>
          <p:cNvSpPr/>
          <p:nvPr/>
        </p:nvSpPr>
        <p:spPr>
          <a:xfrm>
            <a:off x="4945183" y="3499125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79"/>
                </a:lnTo>
                <a:lnTo>
                  <a:pt x="0" y="526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2" name="Google Shape;492;p64"/>
          <p:cNvSpPr/>
          <p:nvPr/>
        </p:nvSpPr>
        <p:spPr>
          <a:xfrm>
            <a:off x="4945183" y="4212958"/>
            <a:ext cx="263140" cy="263140"/>
          </a:xfrm>
          <a:custGeom>
            <a:rect b="b" l="l" r="r" t="t"/>
            <a:pathLst>
              <a:path extrusionOk="0" h="526280" w="526280">
                <a:moveTo>
                  <a:pt x="0" y="0"/>
                </a:moveTo>
                <a:lnTo>
                  <a:pt x="526280" y="0"/>
                </a:lnTo>
                <a:lnTo>
                  <a:pt x="526280" y="526279"/>
                </a:lnTo>
                <a:lnTo>
                  <a:pt x="0" y="526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3" name="Google Shape;493;p64"/>
          <p:cNvSpPr/>
          <p:nvPr/>
        </p:nvSpPr>
        <p:spPr>
          <a:xfrm>
            <a:off x="4192662" y="80526"/>
            <a:ext cx="4559076" cy="1811873"/>
          </a:xfrm>
          <a:custGeom>
            <a:rect b="b" l="l" r="r" t="t"/>
            <a:pathLst>
              <a:path extrusionOk="0" h="561386" w="1412572">
                <a:moveTo>
                  <a:pt x="0" y="0"/>
                </a:moveTo>
                <a:lnTo>
                  <a:pt x="1412572" y="0"/>
                </a:lnTo>
                <a:lnTo>
                  <a:pt x="1412572" y="561386"/>
                </a:lnTo>
                <a:lnTo>
                  <a:pt x="0" y="56138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3949" l="0" r="0" t="-33949"/>
            </a:stretch>
          </a:blipFill>
          <a:ln>
            <a:noFill/>
          </a:ln>
        </p:spPr>
      </p:sp>
      <p:sp>
        <p:nvSpPr>
          <p:cNvPr id="494" name="Google Shape;494;p64"/>
          <p:cNvSpPr txBox="1"/>
          <p:nvPr/>
        </p:nvSpPr>
        <p:spPr>
          <a:xfrm>
            <a:off x="698732" y="150046"/>
            <a:ext cx="325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Insights</a:t>
            </a:r>
            <a:endParaRPr sz="700"/>
          </a:p>
        </p:txBody>
      </p:sp>
      <p:sp>
        <p:nvSpPr>
          <p:cNvPr id="495" name="Google Shape;495;p64"/>
          <p:cNvSpPr txBox="1"/>
          <p:nvPr/>
        </p:nvSpPr>
        <p:spPr>
          <a:xfrm>
            <a:off x="5500198" y="1972453"/>
            <a:ext cx="2359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Efficient scoring matters</a:t>
            </a:r>
            <a:endParaRPr b="1"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Points per 10 minutes compares players fairly. </a:t>
            </a:r>
            <a:endParaRPr b="1"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6" name="Google Shape;496;p64"/>
          <p:cNvSpPr txBox="1"/>
          <p:nvPr/>
        </p:nvSpPr>
        <p:spPr>
          <a:xfrm>
            <a:off x="5500198" y="2688067"/>
            <a:ext cx="2359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Minutes do not tell the full story</a:t>
            </a:r>
            <a:endParaRPr b="1"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Some players score well with limited playing time. </a:t>
            </a:r>
            <a:endParaRPr b="1"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7" name="Google Shape;497;p64"/>
          <p:cNvSpPr txBox="1"/>
          <p:nvPr/>
        </p:nvSpPr>
        <p:spPr>
          <a:xfrm>
            <a:off x="5500198" y="3403682"/>
            <a:ext cx="2359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Position trends are useful</a:t>
            </a:r>
            <a:endParaRPr b="1"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boxplot shows scoring differences by position. </a:t>
            </a:r>
            <a:endParaRPr b="1"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64"/>
          <p:cNvSpPr txBox="1"/>
          <p:nvPr/>
        </p:nvSpPr>
        <p:spPr>
          <a:xfrm>
            <a:off x="5500198" y="4117516"/>
            <a:ext cx="26952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Coaching decision support</a:t>
            </a:r>
            <a:endParaRPr b="1" sz="11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Coaches can use this to identify players who may deserve more minutes. </a:t>
            </a:r>
            <a:endParaRPr b="1"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9" name="Google Shape;499;p64"/>
          <p:cNvSpPr txBox="1"/>
          <p:nvPr/>
        </p:nvSpPr>
        <p:spPr>
          <a:xfrm>
            <a:off x="557975" y="2401825"/>
            <a:ext cx="32718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points_per_10_minutes</a:t>
            </a:r>
            <a:r>
              <a:rPr lang="en" sz="1100"/>
              <a:t> gives a fairer comparison than points per game alone.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Some players may be efficient scorers even if they do not play many minutes.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Coaches can use this information to decide which players may deserve more playing time.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Position comparisons help show where scoring efficiency is strongest.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65"/>
          <p:cNvGrpSpPr/>
          <p:nvPr/>
        </p:nvGrpSpPr>
        <p:grpSpPr>
          <a:xfrm>
            <a:off x="1128433" y="998959"/>
            <a:ext cx="2829641" cy="169258"/>
            <a:chOff x="0" y="-47625"/>
            <a:chExt cx="1490540" cy="89158"/>
          </a:xfrm>
        </p:grpSpPr>
        <p:sp>
          <p:nvSpPr>
            <p:cNvPr id="505" name="Google Shape;505;p65"/>
            <p:cNvSpPr/>
            <p:nvPr/>
          </p:nvSpPr>
          <p:spPr>
            <a:xfrm>
              <a:off x="0" y="0"/>
              <a:ext cx="1490540" cy="41533"/>
            </a:xfrm>
            <a:custGeom>
              <a:rect b="b" l="l" r="r" t="t"/>
              <a:pathLst>
                <a:path extrusionOk="0" h="41533" w="1490540">
                  <a:moveTo>
                    <a:pt x="20766" y="0"/>
                  </a:moveTo>
                  <a:lnTo>
                    <a:pt x="1469773" y="0"/>
                  </a:lnTo>
                  <a:cubicBezTo>
                    <a:pt x="1475281" y="0"/>
                    <a:pt x="1480563" y="2188"/>
                    <a:pt x="1484457" y="6082"/>
                  </a:cubicBezTo>
                  <a:cubicBezTo>
                    <a:pt x="1488352" y="9977"/>
                    <a:pt x="1490540" y="15259"/>
                    <a:pt x="1490540" y="20766"/>
                  </a:cubicBezTo>
                  <a:lnTo>
                    <a:pt x="1490540" y="20766"/>
                  </a:lnTo>
                  <a:cubicBezTo>
                    <a:pt x="1490540" y="26274"/>
                    <a:pt x="1488352" y="31556"/>
                    <a:pt x="1484457" y="35450"/>
                  </a:cubicBezTo>
                  <a:cubicBezTo>
                    <a:pt x="1480563" y="39345"/>
                    <a:pt x="1475281" y="41533"/>
                    <a:pt x="1469773" y="41533"/>
                  </a:cubicBezTo>
                  <a:lnTo>
                    <a:pt x="20766" y="41533"/>
                  </a:lnTo>
                  <a:cubicBezTo>
                    <a:pt x="15259" y="41533"/>
                    <a:pt x="9977" y="39345"/>
                    <a:pt x="6082" y="35450"/>
                  </a:cubicBezTo>
                  <a:cubicBezTo>
                    <a:pt x="2188" y="31556"/>
                    <a:pt x="0" y="26274"/>
                    <a:pt x="0" y="20766"/>
                  </a:cubicBezTo>
                  <a:lnTo>
                    <a:pt x="0" y="20766"/>
                  </a:lnTo>
                  <a:cubicBezTo>
                    <a:pt x="0" y="15259"/>
                    <a:pt x="2188" y="9977"/>
                    <a:pt x="6082" y="6082"/>
                  </a:cubicBezTo>
                  <a:cubicBezTo>
                    <a:pt x="9977" y="2188"/>
                    <a:pt x="15259" y="0"/>
                    <a:pt x="20766" y="0"/>
                  </a:cubicBezTo>
                  <a:close/>
                </a:path>
              </a:pathLst>
            </a:custGeom>
            <a:solidFill>
              <a:srgbClr val="2CA58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 txBox="1"/>
            <p:nvPr/>
          </p:nvSpPr>
          <p:spPr>
            <a:xfrm>
              <a:off x="0" y="-47625"/>
              <a:ext cx="1490540" cy="8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65"/>
          <p:cNvSpPr/>
          <p:nvPr/>
        </p:nvSpPr>
        <p:spPr>
          <a:xfrm>
            <a:off x="5713973" y="0"/>
            <a:ext cx="3430027" cy="5143500"/>
          </a:xfrm>
          <a:custGeom>
            <a:rect b="b" l="l" r="r" t="t"/>
            <a:pathLst>
              <a:path extrusionOk="0" h="1593725" w="1062802">
                <a:moveTo>
                  <a:pt x="0" y="0"/>
                </a:moveTo>
                <a:lnTo>
                  <a:pt x="1062802" y="0"/>
                </a:lnTo>
                <a:lnTo>
                  <a:pt x="1062802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2365" r="-62365" t="0"/>
            </a:stretch>
          </a:blipFill>
          <a:ln>
            <a:noFill/>
          </a:ln>
        </p:spPr>
      </p:sp>
      <p:sp>
        <p:nvSpPr>
          <p:cNvPr id="508" name="Google Shape;508;p65"/>
          <p:cNvSpPr txBox="1"/>
          <p:nvPr/>
        </p:nvSpPr>
        <p:spPr>
          <a:xfrm>
            <a:off x="514350" y="180044"/>
            <a:ext cx="405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2A2A2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  <a:endParaRPr sz="700"/>
          </a:p>
        </p:txBody>
      </p:sp>
      <p:sp>
        <p:nvSpPr>
          <p:cNvPr id="509" name="Google Shape;509;p65"/>
          <p:cNvSpPr txBox="1"/>
          <p:nvPr/>
        </p:nvSpPr>
        <p:spPr>
          <a:xfrm>
            <a:off x="514350" y="2079263"/>
            <a:ext cx="4235400" cy="27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Limitations: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Missing values were filled with 0, which may affect some results.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data only shows stats, not injuries, matchups, defense, or coaching strategy.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Conclusion: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analysis helps identify efficient scorers based on playing time.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Coaches can use points per 10 minutes as one tool when making playing-time decisions.</a:t>
            </a:r>
            <a:endParaRPr sz="1100"/>
          </a:p>
          <a:p>
            <a:pPr indent="0" lvl="0" marL="0" rtl="0" algn="l">
              <a:lnSpc>
                <a:spcPct val="1400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